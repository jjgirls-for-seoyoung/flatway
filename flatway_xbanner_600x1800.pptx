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800000" cy="32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00" cy="32400000"/>
          </a:xfrm>
          <a:prstGeom prst="rect">
            <a:avLst/>
          </a:prstGeom>
          <a:solidFill>
            <a:srgbClr val="F9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800000" cy="3150000"/>
          </a:xfrm>
          <a:prstGeom prst="rect">
            <a:avLst/>
          </a:prstGeom>
          <a:solidFill>
            <a:srgbClr val="00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60000"/>
            <a:ext cx="10800000" cy="90000"/>
          </a:xfrm>
          <a:prstGeom prst="rect">
            <a:avLst/>
          </a:prstGeom>
          <a:solidFill>
            <a:srgbClr val="00E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40000" y="288000"/>
            <a:ext cx="6120000" cy="432000"/>
          </a:xfrm>
          <a:prstGeom prst="roundRect">
            <a:avLst/>
          </a:prstGeom>
          <a:solidFill>
            <a:srgbClr val="00E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80" b="1">
                <a:solidFill>
                  <a:srgbClr val="001E2B"/>
                </a:solidFill>
                <a:latin typeface="맑은 고딕"/>
              </a:defRPr>
            </a:pPr>
            <a:r>
              <a:t>AI · 디지털 기반 문제해결 · 창작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756000"/>
            <a:ext cx="1008000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플랫웨이 (FlatWay)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65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60" b="1">
                <a:solidFill>
                  <a:srgbClr val="C3F0D2"/>
                </a:solidFill>
                <a:latin typeface="맑은 고딕"/>
              </a:defRPr>
            </a:pPr>
            <a:r>
              <a:t>휠체어와 이동 약자를 위한 실시간 단차 및 노면 파손 안내 지도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000" y="2232000"/>
            <a:ext cx="9000000" cy="612000"/>
          </a:xfrm>
          <a:prstGeom prst="roundRect">
            <a:avLst/>
          </a:prstGeom>
          <a:solidFill>
            <a:srgbClr val="003D4F"/>
          </a:solidFill>
          <a:ln w="19050">
            <a:solidFill>
              <a:srgbClr val="00E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“턱 없는 세상, 안심하고 달리는 평평한 길을 연결합니다”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000" y="3420000"/>
            <a:ext cx="9900000" cy="468000"/>
          </a:xfrm>
          <a:prstGeom prst="roundRect">
            <a:avLst/>
          </a:prstGeom>
          <a:solidFill>
            <a:srgbClr val="00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  1. 기본 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000" y="3420000"/>
            <a:ext cx="144000" cy="468000"/>
          </a:xfrm>
          <a:prstGeom prst="roundRect">
            <a:avLst/>
          </a:prstGeom>
          <a:solidFill>
            <a:srgbClr val="00E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0000" y="3960000"/>
            <a:ext cx="9900000" cy="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000" y="4068000"/>
            <a:ext cx="2970000" cy="594000"/>
          </a:xfrm>
          <a:prstGeom prst="roundRect">
            <a:avLst/>
          </a:prstGeom>
          <a:solidFill>
            <a:srgbClr val="F9FBFA"/>
          </a:solidFill>
          <a:ln>
            <a:solidFill>
              <a:srgbClr val="C1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40" b="1">
                <a:solidFill>
                  <a:srgbClr val="5C6C7A"/>
                </a:solidFill>
                <a:latin typeface="맑은 고딕"/>
              </a:defRPr>
            </a:pPr>
            <a:r>
              <a:t>[학교명]</a:t>
            </a:r>
          </a:p>
          <a:p>
            <a:pPr algn="ctr">
              <a:defRPr sz="1040" b="1">
                <a:solidFill>
                  <a:srgbClr val="001E2B"/>
                </a:solidFill>
                <a:latin typeface="맑은 고딕"/>
              </a:defRPr>
            </a:pPr>
            <a:r>
              <a:t>작전여자고등학교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06000" y="4068000"/>
            <a:ext cx="2970000" cy="594000"/>
          </a:xfrm>
          <a:prstGeom prst="roundRect">
            <a:avLst/>
          </a:prstGeom>
          <a:solidFill>
            <a:srgbClr val="E3FCEF"/>
          </a:solidFill>
          <a:ln>
            <a:solidFill>
              <a:srgbClr val="00E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40" b="1">
                <a:solidFill>
                  <a:srgbClr val="00684A"/>
                </a:solidFill>
                <a:latin typeface="맑은 고딕"/>
              </a:defRPr>
            </a:pPr>
            <a:r>
              <a:t>[팀명]</a:t>
            </a:r>
          </a:p>
          <a:p>
            <a:pPr algn="ctr">
              <a:defRPr sz="1120" b="1">
                <a:solidFill>
                  <a:srgbClr val="00684A"/>
                </a:solidFill>
                <a:latin typeface="맑은 고딕"/>
              </a:defRPr>
            </a:pPr>
            <a:r>
              <a:t>사대천왕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0" y="4068000"/>
            <a:ext cx="2970000" cy="594000"/>
          </a:xfrm>
          <a:prstGeom prst="roundRect">
            <a:avLst/>
          </a:prstGeom>
          <a:solidFill>
            <a:srgbClr val="FAF5FF"/>
          </a:solidFill>
          <a:ln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40" b="1">
                <a:solidFill>
                  <a:srgbClr val="7B3FF2"/>
                </a:solidFill>
                <a:latin typeface="맑은 고딕"/>
              </a:defRPr>
            </a:pPr>
            <a:r>
              <a:t>[프로젝트명]</a:t>
            </a:r>
          </a:p>
          <a:p>
            <a:pPr algn="ctr">
              <a:defRPr sz="1040" b="1">
                <a:solidFill>
                  <a:srgbClr val="7B3FF2"/>
                </a:solidFill>
                <a:latin typeface="맑은 고딕"/>
              </a:defRPr>
            </a:pPr>
            <a:r>
              <a:t>플랫웨이 (FlatWay)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0000" y="4950000"/>
            <a:ext cx="9900000" cy="468000"/>
          </a:xfrm>
          <a:prstGeom prst="roundRect">
            <a:avLst/>
          </a:prstGeom>
          <a:solidFill>
            <a:srgbClr val="00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  2. 문제 정의 (배경 및 필요성)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000" y="4950000"/>
            <a:ext cx="144000" cy="468000"/>
          </a:xfrm>
          <a:prstGeom prst="roundRect">
            <a:avLst/>
          </a:prstGeom>
          <a:solidFill>
            <a:srgbClr val="00E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0000" y="5490000"/>
            <a:ext cx="9900000" cy="2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2000" rIns="252000" tIns="144000"/>
          <a:lstStyle/>
          <a:p>
            <a:pPr algn="ctr">
              <a:defRPr sz="1040" b="1">
                <a:solidFill>
                  <a:srgbClr val="FA6E39"/>
                </a:solidFill>
                <a:latin typeface="맑은 고딕"/>
              </a:defRPr>
            </a:pPr>
            <a:r>
              <a:t>● [발견한 문제]</a:t>
            </a:r>
          </a:p>
          <a:p>
            <a:pPr>
              <a:defRPr sz="920">
                <a:solidFill>
                  <a:srgbClr val="001E2B"/>
                </a:solidFill>
                <a:latin typeface="맑은 고딕"/>
              </a:defRPr>
            </a:pPr>
            <a:r>
              <a:t>• 휠체어·유모차 이용자는 보행로의 높은 단차(턱)나 파손된 노면을 미리 알 수 없어, 이미 진입한 길에서 되돌아오거나 위험한 차도로 우회해야 하는 심각한 이동권 침해를 겪음.</a:t>
            </a:r>
          </a:p>
          <a:p>
            <a:pPr>
              <a:defRPr sz="1040" b="1">
                <a:solidFill>
                  <a:srgbClr val="00684A"/>
                </a:solidFill>
                <a:latin typeface="맑은 고딕"/>
              </a:defRPr>
            </a:pPr>
            <a:r>
              <a:t>● [해결 필요성 (기존 한계)]</a:t>
            </a:r>
          </a:p>
          <a:p>
            <a:pPr>
              <a:defRPr sz="920">
                <a:solidFill>
                  <a:srgbClr val="001E2B"/>
                </a:solidFill>
                <a:latin typeface="맑은 고딕"/>
              </a:defRPr>
            </a:pPr>
            <a:r>
              <a:t>• 기존 상용 지도 앱은 차량 위주이거나 단순 최단 도보 경로만 제공하여 휠체어 통행에 필수적인 노면 파손·단차·경사도 등 세부 보행 장애 정보를 전혀 제공하지 못함.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4000" y="7164000"/>
            <a:ext cx="9432000" cy="792000"/>
          </a:xfrm>
          <a:prstGeom prst="roundRect">
            <a:avLst/>
          </a:prstGeom>
          <a:solidFill>
            <a:srgbClr val="E3FCEF"/>
          </a:solidFill>
          <a:ln>
            <a:solidFill>
              <a:srgbClr val="C3F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54000"/>
          <a:lstStyle/>
          <a:p>
            <a:pPr algn="ctr">
              <a:defRPr sz="840">
                <a:solidFill>
                  <a:srgbClr val="00684A"/>
                </a:solidFill>
                <a:latin typeface="맑은 고딕"/>
              </a:defRPr>
            </a:pPr>
            <a:r>
              <a:t>● 페르소나 (김민준, 24세 전동휠체어 대학생): “등하굣길에 턱에 막혀 차도로 돌아가야 했던 위험한 순간이 많았습니다. 미리 알고 피할 수 있다면 안심하고 다닐 수 있어요.”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000" y="8190000"/>
            <a:ext cx="9900000" cy="468000"/>
          </a:xfrm>
          <a:prstGeom prst="roundRect">
            <a:avLst/>
          </a:prstGeom>
          <a:solidFill>
            <a:srgbClr val="00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  3. 해결 아이디어 (핵심 솔루션)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0000" y="8190000"/>
            <a:ext cx="144000" cy="468000"/>
          </a:xfrm>
          <a:prstGeom prst="roundRect">
            <a:avLst/>
          </a:prstGeom>
          <a:solidFill>
            <a:srgbClr val="00E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0000" y="8730000"/>
            <a:ext cx="9900000" cy="2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4000" y="8910000"/>
            <a:ext cx="9432000" cy="684000"/>
          </a:xfrm>
          <a:prstGeom prst="roundRect">
            <a:avLst/>
          </a:prstGeom>
          <a:solidFill>
            <a:srgbClr val="E3FCEF"/>
          </a:solidFill>
          <a:ln w="12700">
            <a:solidFill>
              <a:srgbClr val="00E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>
              <a:defRPr sz="1000" b="1">
                <a:solidFill>
                  <a:srgbClr val="00684A"/>
                </a:solidFill>
                <a:latin typeface="맑은 고딕"/>
              </a:defRPr>
            </a:pPr>
            <a:r>
              <a:t>① 맞춤 이동 수단별 안전 경로</a:t>
            </a:r>
          </a:p>
          <a:p>
            <a:pPr>
              <a:defRPr sz="880">
                <a:solidFill>
                  <a:srgbClr val="001E2B"/>
                </a:solidFill>
                <a:latin typeface="맑은 고딕"/>
              </a:defRPr>
            </a:pPr>
            <a:r>
              <a:t>보행자 / 수동휠체어 / 전동휠체어 특성을 반영하여 '단차 최소 경로' 및 '파손 최소 경로'를 구분하여 최적의 안전 우회로 추천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4000" y="9666000"/>
            <a:ext cx="9432000" cy="68400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>
              <a:defRPr sz="1000" b="1">
                <a:solidFill>
                  <a:srgbClr val="7B3FF2"/>
                </a:solidFill>
                <a:latin typeface="맑은 고딕"/>
              </a:defRPr>
            </a:pPr>
            <a:r>
              <a:t>② 실시간 참여형 위험 제보</a:t>
            </a:r>
          </a:p>
          <a:p>
            <a:pPr>
              <a:defRPr sz="880">
                <a:solidFill>
                  <a:srgbClr val="001E2B"/>
                </a:solidFill>
                <a:latin typeface="맑은 고딕"/>
              </a:defRPr>
            </a:pPr>
            <a:r>
              <a:t>보행 중 발견한 턱이나 파손 도로를 사용자가 사진과 함께 원클릭으로 등록하고 지도에 실시간 공유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4000" y="10422000"/>
            <a:ext cx="9432000" cy="684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>
              <a:defRPr sz="1000" b="1">
                <a:solidFill>
                  <a:srgbClr val="3D4F9F"/>
                </a:solidFill>
                <a:latin typeface="맑은 고딕"/>
              </a:defRPr>
            </a:pPr>
            <a:r>
              <a:t>③ 건물 접근성 정보 연계</a:t>
            </a:r>
          </a:p>
          <a:p>
            <a:pPr>
              <a:defRPr sz="880">
                <a:solidFill>
                  <a:srgbClr val="001E2B"/>
                </a:solidFill>
                <a:latin typeface="맑은 고딕"/>
              </a:defRPr>
            </a:pPr>
            <a:r>
              <a:t>도착지 건물의 주출입구 경사로 유무 및 엘리베이터 위치 정보를 상세히 제공하여 헛걸음 방지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0000" y="11430000"/>
            <a:ext cx="9900000" cy="468000"/>
          </a:xfrm>
          <a:prstGeom prst="roundRect">
            <a:avLst/>
          </a:prstGeom>
          <a:solidFill>
            <a:srgbClr val="00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  4. AI · 디지털 도구 활용 과정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000" y="11430000"/>
            <a:ext cx="144000" cy="468000"/>
          </a:xfrm>
          <a:prstGeom prst="roundRect">
            <a:avLst/>
          </a:prstGeom>
          <a:solidFill>
            <a:srgbClr val="00E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0000" y="11970000"/>
            <a:ext cx="9900000" cy="2430000"/>
          </a:xfrm>
          <a:prstGeom prst="roundRect">
            <a:avLst/>
          </a:prstGeom>
          <a:solidFill>
            <a:srgbClr val="001E2B"/>
          </a:solidFill>
          <a:ln w="19050">
            <a:solidFill>
              <a:srgbClr val="00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4000" y="12150000"/>
            <a:ext cx="9432000" cy="648000"/>
          </a:xfrm>
          <a:prstGeom prst="roundRect">
            <a:avLst/>
          </a:prstGeom>
          <a:solidFill>
            <a:srgbClr val="003D4F"/>
          </a:solidFill>
          <a:ln w="12700">
            <a:solidFill>
              <a:srgbClr val="1C2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>
              <a:defRPr sz="960" b="1">
                <a:solidFill>
                  <a:srgbClr val="00ED64"/>
                </a:solidFill>
                <a:latin typeface="맑은 고딕"/>
              </a:defRPr>
            </a:pPr>
            <a:r>
              <a:t>▶ 스마트폰 센서 (IoT &amp; Data)   |   GPS 및 가속도 센서 연동 알고리즘</a:t>
            </a:r>
          </a:p>
          <a:p>
            <a:pPr>
              <a:defRPr sz="840">
                <a:solidFill>
                  <a:srgbClr val="FFFFFF"/>
                </a:solidFill>
                <a:latin typeface="맑은 고딕"/>
              </a:defRPr>
            </a:pPr>
            <a:r>
              <a:t>휠체어 이동 중 발생하는 진동·충격 가속도 데이터를 수집하여 도로 노면의 파손 정도와 단차 위치를 자동 감지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4000" y="12870000"/>
            <a:ext cx="9432000" cy="648000"/>
          </a:xfrm>
          <a:prstGeom prst="roundRect">
            <a:avLst/>
          </a:prstGeom>
          <a:solidFill>
            <a:srgbClr val="003D4F"/>
          </a:solidFill>
          <a:ln w="12700">
            <a:solidFill>
              <a:srgbClr val="1C2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>
              <a:defRPr sz="960" b="1">
                <a:solidFill>
                  <a:srgbClr val="38BDF8"/>
                </a:solidFill>
                <a:latin typeface="맑은 고딕"/>
              </a:defRPr>
            </a:pPr>
            <a:r>
              <a:t>▶ 지도 API 및 공간정보   |   Kakao Maps / VWorld API 연동</a:t>
            </a:r>
          </a:p>
          <a:p>
            <a:pPr>
              <a:defRPr sz="840">
                <a:solidFill>
                  <a:srgbClr val="FFFFFF"/>
                </a:solidFill>
                <a:latin typeface="맑은 고딕"/>
              </a:defRPr>
            </a:pPr>
            <a:r>
              <a:t>실제 도로 네트워크 및 보행로 데이터에 경사도와 노면 상태 레이어를 융합하여 휠체어 전용 가중치 기반 최적 경로 탐색 로직 설계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4000" y="13590000"/>
            <a:ext cx="9432000" cy="648000"/>
          </a:xfrm>
          <a:prstGeom prst="roundRect">
            <a:avLst/>
          </a:prstGeom>
          <a:solidFill>
            <a:srgbClr val="003D4F"/>
          </a:solidFill>
          <a:ln w="12700">
            <a:solidFill>
              <a:srgbClr val="1C2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>
              <a:defRPr sz="960" b="1">
                <a:solidFill>
                  <a:srgbClr val="C3F0D2"/>
                </a:solidFill>
                <a:latin typeface="맑은 고딕"/>
              </a:defRPr>
            </a:pPr>
            <a:r>
              <a:t>▶ UI/UX 디자인 도구   |   Figma &amp; Euclid 컴포넌트 설계</a:t>
            </a:r>
          </a:p>
          <a:p>
            <a:pPr>
              <a:defRPr sz="840">
                <a:solidFill>
                  <a:srgbClr val="FFFFFF"/>
                </a:solidFill>
                <a:latin typeface="맑은 고딕"/>
              </a:defRPr>
            </a:pPr>
            <a:r>
              <a:t>이동 약자의 사용 편의성과 즉각적인 인지를 위해 '검색 → 수단 선택 → 맞춤 안내' 3단계 직관적 사용자 인터페이스 목업 설계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0000" y="14580000"/>
            <a:ext cx="9900000" cy="468000"/>
          </a:xfrm>
          <a:prstGeom prst="roundRect">
            <a:avLst/>
          </a:prstGeom>
          <a:solidFill>
            <a:srgbClr val="00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  5. 테스트 및 개선 과정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0000" y="14580000"/>
            <a:ext cx="144000" cy="468000"/>
          </a:xfrm>
          <a:prstGeom prst="roundRect">
            <a:avLst/>
          </a:prstGeom>
          <a:solidFill>
            <a:srgbClr val="00E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0000" y="15120000"/>
            <a:ext cx="9900000" cy="24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4000" y="15300000"/>
            <a:ext cx="9432000" cy="1008000"/>
          </a:xfrm>
          <a:prstGeom prst="roundRect">
            <a:avLst/>
          </a:prstGeom>
          <a:solidFill>
            <a:srgbClr val="E3FCEF"/>
          </a:solidFill>
          <a:ln>
            <a:solidFill>
              <a:srgbClr val="00E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>
              <a:defRPr sz="1000" b="1">
                <a:solidFill>
                  <a:srgbClr val="00684A"/>
                </a:solidFill>
                <a:latin typeface="맑은 고딕"/>
              </a:defRPr>
            </a:pPr>
            <a:r>
              <a:t>● [현장 실증 답사] 작전여고 ~ 작전역 구간 보행로 현장 조사 및 데이터 검증</a:t>
            </a:r>
          </a:p>
          <a:p>
            <a:pPr>
              <a:defRPr sz="864">
                <a:solidFill>
                  <a:srgbClr val="001E2B"/>
                </a:solidFill>
                <a:latin typeface="맑은 고딕"/>
              </a:defRPr>
            </a:pPr>
            <a:r>
              <a:t>• 학교 주변 실제 통행로를 직접 답사하며 보도턱 높이(3~7cm) 및 노면 파손 지점을 실측 조사함.</a:t>
            </a:r>
            <a:br/>
            <a:r>
              <a:t>• 수집된 실측 데이터와 지도 API 경로를 비교 분석하여 휠체어 통행 불가 지점을 정확히 식별함.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4000" y="16380000"/>
            <a:ext cx="9432000" cy="10080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>
              <a:defRPr sz="1000" b="1">
                <a:solidFill>
                  <a:srgbClr val="3D4F9F"/>
                </a:solidFill>
                <a:latin typeface="맑은 고딕"/>
              </a:defRPr>
            </a:pPr>
            <a:r>
              <a:t>● [개선 내용] 사용자 제보 신뢰도 검증 및 도로 상태 최신화 프로세스 설계</a:t>
            </a:r>
          </a:p>
          <a:p>
            <a:pPr>
              <a:defRPr sz="864">
                <a:solidFill>
                  <a:srgbClr val="001E2B"/>
                </a:solidFill>
                <a:latin typeface="맑은 고딕"/>
              </a:defRPr>
            </a:pPr>
            <a:r>
              <a:t>• 초기 아이디어의 허위/오래된 제보 문제를 해결하기 위해 '운영자 1차 필터링 + 다수 사용자 교차 확인' 시스템을 추가 설계하여 데이터의 신뢰성과 실시간성을 대폭 개선함.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0000" y="17730000"/>
            <a:ext cx="9900000" cy="468000"/>
          </a:xfrm>
          <a:prstGeom prst="roundRect">
            <a:avLst/>
          </a:prstGeom>
          <a:solidFill>
            <a:srgbClr val="00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  6. 결과물 주요 화면 및 핵심 기능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0000" y="17730000"/>
            <a:ext cx="144000" cy="468000"/>
          </a:xfrm>
          <a:prstGeom prst="roundRect">
            <a:avLst/>
          </a:prstGeom>
          <a:solidFill>
            <a:srgbClr val="00E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0000" y="18270000"/>
            <a:ext cx="9900000" cy="75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mockup_scre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504000"/>
            <a:ext cx="2970000" cy="594000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84000" y="24570000"/>
            <a:ext cx="2970000" cy="1080000"/>
          </a:xfrm>
          <a:prstGeom prst="roundRect">
            <a:avLst/>
          </a:prstGeom>
          <a:solidFill>
            <a:srgbClr val="F9FBFA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/>
          <a:lstStyle/>
          <a:p>
            <a:pPr algn="ctr">
              <a:defRPr sz="920" b="1">
                <a:solidFill>
                  <a:srgbClr val="001E2B"/>
                </a:solidFill>
                <a:latin typeface="맑은 고딕"/>
              </a:defRPr>
            </a:pPr>
            <a:r>
              <a:t>화면 ① [출발·도착지 &amp; 단차 제보]</a:t>
            </a:r>
          </a:p>
          <a:p>
            <a:pPr algn="l">
              <a:defRPr sz="784">
                <a:solidFill>
                  <a:srgbClr val="001E2B"/>
                </a:solidFill>
                <a:latin typeface="맑은 고딕"/>
              </a:defRPr>
            </a:pPr>
            <a:r>
              <a:t>• 현재 위치 기반 목적지 검색</a:t>
            </a:r>
            <a:br/>
            <a:r>
              <a:t>• 현장 사진 첨부 실시간 제보 UI</a:t>
            </a:r>
          </a:p>
        </p:txBody>
      </p:sp>
      <p:pic>
        <p:nvPicPr>
          <p:cNvPr id="41" name="Picture 40" descr="mockup_scree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000" y="18504000"/>
            <a:ext cx="2970000" cy="594000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3924000" y="24570000"/>
            <a:ext cx="2970000" cy="1080000"/>
          </a:xfrm>
          <a:prstGeom prst="roundRect">
            <a:avLst/>
          </a:prstGeom>
          <a:solidFill>
            <a:srgbClr val="F9FBFA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/>
          <a:lstStyle/>
          <a:p>
            <a:pPr algn="ctr">
              <a:defRPr sz="920" b="1">
                <a:solidFill>
                  <a:srgbClr val="001E2B"/>
                </a:solidFill>
                <a:latin typeface="맑은 고딕"/>
              </a:defRPr>
            </a:pPr>
            <a:r>
              <a:t>화면 ② [이동 수단 맞춤 선택]</a:t>
            </a:r>
          </a:p>
          <a:p>
            <a:pPr algn="l">
              <a:defRPr sz="784">
                <a:solidFill>
                  <a:srgbClr val="001E2B"/>
                </a:solidFill>
                <a:latin typeface="맑은 고딕"/>
              </a:defRPr>
            </a:pPr>
            <a:r>
              <a:t>• 보행자 / 수동·전동 휠체어 선택</a:t>
            </a:r>
            <a:br/>
            <a:r>
              <a:t>• 수단별 예상시간 &amp; 안전도 비교</a:t>
            </a:r>
          </a:p>
        </p:txBody>
      </p:sp>
      <p:pic>
        <p:nvPicPr>
          <p:cNvPr id="43" name="Picture 42" descr="mockup_screen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000" y="18504000"/>
            <a:ext cx="2970000" cy="5940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7146000" y="24570000"/>
            <a:ext cx="2970000" cy="1080000"/>
          </a:xfrm>
          <a:prstGeom prst="roundRect">
            <a:avLst/>
          </a:prstGeom>
          <a:solidFill>
            <a:srgbClr val="F9FBFA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/>
          <a:lstStyle/>
          <a:p>
            <a:pPr algn="ctr">
              <a:defRPr sz="920" b="1">
                <a:solidFill>
                  <a:srgbClr val="001E2B"/>
                </a:solidFill>
                <a:latin typeface="맑은 고딕"/>
              </a:defRPr>
            </a:pPr>
            <a:r>
              <a:t>화면 ③ [맞춤 안전경로 안내]</a:t>
            </a:r>
          </a:p>
          <a:p>
            <a:pPr algn="l">
              <a:defRPr sz="784">
                <a:solidFill>
                  <a:srgbClr val="001E2B"/>
                </a:solidFill>
                <a:latin typeface="맑은 고딕"/>
              </a:defRPr>
            </a:pPr>
            <a:r>
              <a:t>• 파손 최소 안심길 &amp; 단차 우회 안내</a:t>
            </a:r>
            <a:br/>
            <a:r>
              <a:t>• 경사로/엘리베이터 출입구 표시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0000" y="26100000"/>
            <a:ext cx="9900000" cy="468000"/>
          </a:xfrm>
          <a:prstGeom prst="roundRect">
            <a:avLst/>
          </a:prstGeom>
          <a:solidFill>
            <a:srgbClr val="00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  7. 기대효과 및 활용 가능성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0000" y="26100000"/>
            <a:ext cx="144000" cy="468000"/>
          </a:xfrm>
          <a:prstGeom prst="roundRect">
            <a:avLst/>
          </a:prstGeom>
          <a:solidFill>
            <a:srgbClr val="00E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0000" y="26640000"/>
            <a:ext cx="9900000" cy="23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4000" y="26856000"/>
            <a:ext cx="4590000" cy="1944000"/>
          </a:xfrm>
          <a:prstGeom prst="roundRect">
            <a:avLst/>
          </a:prstGeom>
          <a:solidFill>
            <a:srgbClr val="E3FCEF"/>
          </a:solidFill>
          <a:ln>
            <a:solidFill>
              <a:srgbClr val="00E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>
              <a:defRPr sz="1000" b="1">
                <a:solidFill>
                  <a:srgbClr val="00684A"/>
                </a:solidFill>
                <a:latin typeface="맑은 고딕"/>
              </a:defRPr>
            </a:pPr>
            <a:r>
              <a:t>● 이동 약자의 안전한 통행권 보장</a:t>
            </a:r>
          </a:p>
          <a:p>
            <a:pPr>
              <a:defRPr sz="840">
                <a:solidFill>
                  <a:srgbClr val="001E2B"/>
                </a:solidFill>
                <a:latin typeface="맑은 고딕"/>
              </a:defRPr>
            </a:pPr>
            <a:r>
              <a:t>• 도로 턱과 파손 구역을 사전에 회피하여 통행 막힘 및 위험 차도 우회 사고를 원천 방지함.</a:t>
            </a:r>
            <a:br/>
            <a:r>
              <a:t>• 불필요한 우회 이동 시간을 단축하고 외출 시의 심리적 불안감을 크게 해소함.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26000" y="26856000"/>
            <a:ext cx="4590000" cy="1944000"/>
          </a:xfrm>
          <a:prstGeom prst="roundRect">
            <a:avLst/>
          </a:prstGeom>
          <a:solidFill>
            <a:srgbClr val="FAF5FF"/>
          </a:solidFill>
          <a:ln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>
              <a:defRPr sz="1000" b="1">
                <a:solidFill>
                  <a:srgbClr val="7B3FF2"/>
                </a:solidFill>
                <a:latin typeface="맑은 고딕"/>
              </a:defRPr>
            </a:pPr>
            <a:r>
              <a:t>● 배리어프리 도시 인프라 연계</a:t>
            </a:r>
          </a:p>
          <a:p>
            <a:pPr>
              <a:defRPr sz="840">
                <a:solidFill>
                  <a:srgbClr val="001E2B"/>
                </a:solidFill>
                <a:latin typeface="맑은 고딕"/>
              </a:defRPr>
            </a:pPr>
            <a:r>
              <a:t>• 시민 참여형 노면 데이터를 축적하여 지자체 도로 보수 행정 및 우선 정비 구역 선정에 활용 가능.</a:t>
            </a:r>
            <a:br/>
            <a:r>
              <a:t>• 유모차, 고령자 등 모든 보행 약자로 수혜를 확장하여 포용적 도시 환경 조성.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0000" y="29250000"/>
            <a:ext cx="9900000" cy="2610000"/>
          </a:xfrm>
          <a:prstGeom prst="roundRect">
            <a:avLst/>
          </a:prstGeom>
          <a:solidFill>
            <a:srgbClr val="F9FBFA"/>
          </a:solidFill>
          <a:ln w="19050">
            <a:solidFill>
              <a:srgbClr val="C1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90000" y="29484000"/>
            <a:ext cx="1620000" cy="16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E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60" b="1">
                <a:solidFill>
                  <a:srgbClr val="00684A"/>
                </a:solidFill>
                <a:latin typeface="맑은 고딕"/>
              </a:defRPr>
            </a:pPr>
            <a:r>
              <a:t>QR CODE</a:t>
            </a:r>
            <a:br/>
            <a:r>
              <a:t>삽입 영역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0000" y="31248000"/>
            <a:ext cx="97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1">
                <a:solidFill>
                  <a:srgbClr val="5C6C7A"/>
                </a:solidFill>
                <a:latin typeface="맑은 고딕"/>
              </a:defRPr>
            </a:pPr>
            <a:r>
              <a:t>※ QR코드는 운영사에서 추후 일괄 적용 예정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